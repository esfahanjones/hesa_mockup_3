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766" r:id="rId2"/>
    <p:sldId id="1770" r:id="rId3"/>
    <p:sldId id="1771" r:id="rId4"/>
    <p:sldId id="1772" r:id="rId5"/>
    <p:sldId id="767" r:id="rId6"/>
    <p:sldId id="1773" r:id="rId7"/>
    <p:sldId id="1774" r:id="rId8"/>
    <p:sldId id="177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9"/>
  </p:normalViewPr>
  <p:slideViewPr>
    <p:cSldViewPr snapToGrid="0">
      <p:cViewPr varScale="1">
        <p:scale>
          <a:sx n="101" d="100"/>
          <a:sy n="101" d="100"/>
        </p:scale>
        <p:origin x="9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2972F2-3C8B-3343-A695-C9D057D21511}" type="datetimeFigureOut">
              <a:rPr lang="en-US" smtClean="0"/>
              <a:t>7/30/26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B3E0FA-54AA-CC44-BCD4-B7BA5448897B}" type="slidenum">
              <a:rPr lang="en-US" smtClean="0"/>
              <a:t>‹#›</a:t>
            </a:fld>
            <a:endParaRPr lang="en-US"/>
          </a:p>
        </p:txBody>
      </p:sp>
    </p:spTree>
    <p:extLst>
      <p:ext uri="{BB962C8B-B14F-4D97-AF65-F5344CB8AC3E}">
        <p14:creationId xmlns:p14="http://schemas.microsoft.com/office/powerpoint/2010/main" val="2949976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Keunikan</a:t>
            </a:r>
            <a:r>
              <a:rPr lang="en-US" dirty="0"/>
              <a:t> </a:t>
            </a:r>
            <a:r>
              <a:rPr lang="en-US" dirty="0" err="1"/>
              <a:t>kumpulan</a:t>
            </a:r>
            <a:r>
              <a:rPr lang="en-US" dirty="0"/>
              <a:t> </a:t>
            </a:r>
            <a:r>
              <a:rPr lang="en-US" dirty="0" err="1"/>
              <a:t>az-zahrah</a:t>
            </a:r>
            <a:r>
              <a:rPr lang="en-US" dirty="0"/>
              <a:t> </a:t>
            </a:r>
            <a:r>
              <a:rPr lang="en-US" dirty="0" err="1"/>
              <a:t>ialah</a:t>
            </a:r>
            <a:r>
              <a:rPr lang="en-US" dirty="0"/>
              <a:t> hospital yang </a:t>
            </a:r>
            <a:r>
              <a:rPr lang="en-US" dirty="0" err="1"/>
              <a:t>mesra</a:t>
            </a:r>
            <a:r>
              <a:rPr lang="en-US" dirty="0"/>
              <a:t> ibadah.  Hospital </a:t>
            </a:r>
            <a:r>
              <a:rPr lang="en-US" dirty="0" err="1"/>
              <a:t>az-zahrah</a:t>
            </a:r>
            <a:r>
              <a:rPr lang="en-US" dirty="0"/>
              <a:t> </a:t>
            </a:r>
            <a:r>
              <a:rPr lang="en-US" dirty="0" err="1"/>
              <a:t>ada</a:t>
            </a:r>
            <a:r>
              <a:rPr lang="en-US" dirty="0"/>
              <a:t> </a:t>
            </a:r>
            <a:r>
              <a:rPr lang="en-US" dirty="0" err="1"/>
              <a:t>pelbagai</a:t>
            </a:r>
            <a:r>
              <a:rPr lang="en-US" dirty="0"/>
              <a:t> </a:t>
            </a:r>
            <a:r>
              <a:rPr lang="en-US" dirty="0" err="1"/>
              <a:t>disiplin</a:t>
            </a:r>
            <a:r>
              <a:rPr lang="en-US" dirty="0"/>
              <a:t>, dan </a:t>
            </a:r>
            <a:r>
              <a:rPr lang="en-US" dirty="0" err="1"/>
              <a:t>mampu</a:t>
            </a:r>
            <a:r>
              <a:rPr lang="en-US" dirty="0"/>
              <a:t> </a:t>
            </a:r>
            <a:r>
              <a:rPr lang="en-US" dirty="0" err="1"/>
              <a:t>milik</a:t>
            </a:r>
            <a:r>
              <a:rPr lang="en-US" dirty="0"/>
              <a:t> , </a:t>
            </a:r>
            <a:r>
              <a:rPr lang="en-US" dirty="0" err="1"/>
              <a:t>harga</a:t>
            </a:r>
            <a:r>
              <a:rPr lang="en-US" dirty="0"/>
              <a:t> 40% </a:t>
            </a:r>
            <a:r>
              <a:rPr lang="en-US" dirty="0" err="1"/>
              <a:t>lebih</a:t>
            </a:r>
            <a:r>
              <a:rPr lang="en-US" dirty="0"/>
              <a:t> </a:t>
            </a:r>
            <a:r>
              <a:rPr lang="en-US" dirty="0" err="1"/>
              <a:t>murah</a:t>
            </a:r>
            <a:r>
              <a:rPr lang="en-US" dirty="0"/>
              <a:t> </a:t>
            </a:r>
            <a:r>
              <a:rPr lang="en-US" dirty="0" err="1"/>
              <a:t>dari</a:t>
            </a:r>
            <a:r>
              <a:rPr lang="en-US" dirty="0"/>
              <a:t> hospital </a:t>
            </a:r>
            <a:r>
              <a:rPr lang="en-US" dirty="0" err="1"/>
              <a:t>persendirian</a:t>
            </a:r>
            <a:r>
              <a:rPr lang="en-US" dirty="0"/>
              <a:t> </a:t>
            </a:r>
            <a:r>
              <a:rPr lang="en-US" dirty="0" err="1"/>
              <a:t>yg</a:t>
            </a:r>
            <a:r>
              <a:rPr lang="en-US" dirty="0"/>
              <a:t> lain</a:t>
            </a:r>
          </a:p>
        </p:txBody>
      </p:sp>
      <p:sp>
        <p:nvSpPr>
          <p:cNvPr id="4" name="Slide Number Placeholder 3"/>
          <p:cNvSpPr>
            <a:spLocks noGrp="1"/>
          </p:cNvSpPr>
          <p:nvPr>
            <p:ph type="sldNum" sz="quarter" idx="5"/>
          </p:nvPr>
        </p:nvSpPr>
        <p:spPr/>
        <p:txBody>
          <a:bodyPr/>
          <a:lstStyle/>
          <a:p>
            <a:fld id="{5441B598-48B1-48A3-86EA-CB12D0FE7070}" type="slidenum">
              <a:rPr lang="en-MY" smtClean="0"/>
              <a:t>1</a:t>
            </a:fld>
            <a:endParaRPr lang="en-MY"/>
          </a:p>
        </p:txBody>
      </p:sp>
    </p:spTree>
    <p:extLst>
      <p:ext uri="{BB962C8B-B14F-4D97-AF65-F5344CB8AC3E}">
        <p14:creationId xmlns:p14="http://schemas.microsoft.com/office/powerpoint/2010/main" val="3506414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Keunikan</a:t>
            </a:r>
            <a:r>
              <a:rPr lang="en-US" dirty="0"/>
              <a:t> </a:t>
            </a:r>
            <a:r>
              <a:rPr lang="en-US" dirty="0" err="1"/>
              <a:t>kumpulan</a:t>
            </a:r>
            <a:r>
              <a:rPr lang="en-US" dirty="0"/>
              <a:t> </a:t>
            </a:r>
            <a:r>
              <a:rPr lang="en-US" dirty="0" err="1"/>
              <a:t>az-zahrah</a:t>
            </a:r>
            <a:r>
              <a:rPr lang="en-US" dirty="0"/>
              <a:t> </a:t>
            </a:r>
            <a:r>
              <a:rPr lang="en-US" dirty="0" err="1"/>
              <a:t>ialah</a:t>
            </a:r>
            <a:r>
              <a:rPr lang="en-US" dirty="0"/>
              <a:t> hospital yang </a:t>
            </a:r>
            <a:r>
              <a:rPr lang="en-US" dirty="0" err="1"/>
              <a:t>mesra</a:t>
            </a:r>
            <a:r>
              <a:rPr lang="en-US" dirty="0"/>
              <a:t> ibadah.  Hospital </a:t>
            </a:r>
            <a:r>
              <a:rPr lang="en-US" dirty="0" err="1"/>
              <a:t>az-zahrah</a:t>
            </a:r>
            <a:r>
              <a:rPr lang="en-US" dirty="0"/>
              <a:t> </a:t>
            </a:r>
            <a:r>
              <a:rPr lang="en-US" dirty="0" err="1"/>
              <a:t>ada</a:t>
            </a:r>
            <a:r>
              <a:rPr lang="en-US" dirty="0"/>
              <a:t> </a:t>
            </a:r>
            <a:r>
              <a:rPr lang="en-US" dirty="0" err="1"/>
              <a:t>pelbagai</a:t>
            </a:r>
            <a:r>
              <a:rPr lang="en-US" dirty="0"/>
              <a:t> </a:t>
            </a:r>
            <a:r>
              <a:rPr lang="en-US" dirty="0" err="1"/>
              <a:t>disiplin</a:t>
            </a:r>
            <a:r>
              <a:rPr lang="en-US" dirty="0"/>
              <a:t>, dan </a:t>
            </a:r>
            <a:r>
              <a:rPr lang="en-US" dirty="0" err="1"/>
              <a:t>mampu</a:t>
            </a:r>
            <a:r>
              <a:rPr lang="en-US" dirty="0"/>
              <a:t> </a:t>
            </a:r>
            <a:r>
              <a:rPr lang="en-US" dirty="0" err="1"/>
              <a:t>milik</a:t>
            </a:r>
            <a:r>
              <a:rPr lang="en-US" dirty="0"/>
              <a:t> , </a:t>
            </a:r>
            <a:r>
              <a:rPr lang="en-US" dirty="0" err="1"/>
              <a:t>harga</a:t>
            </a:r>
            <a:r>
              <a:rPr lang="en-US" dirty="0"/>
              <a:t> 40% </a:t>
            </a:r>
            <a:r>
              <a:rPr lang="en-US" dirty="0" err="1"/>
              <a:t>lebih</a:t>
            </a:r>
            <a:r>
              <a:rPr lang="en-US" dirty="0"/>
              <a:t> </a:t>
            </a:r>
            <a:r>
              <a:rPr lang="en-US" dirty="0" err="1"/>
              <a:t>murah</a:t>
            </a:r>
            <a:r>
              <a:rPr lang="en-US" dirty="0"/>
              <a:t> </a:t>
            </a:r>
            <a:r>
              <a:rPr lang="en-US" dirty="0" err="1"/>
              <a:t>dari</a:t>
            </a:r>
            <a:r>
              <a:rPr lang="en-US" dirty="0"/>
              <a:t> hospital </a:t>
            </a:r>
            <a:r>
              <a:rPr lang="en-US" dirty="0" err="1"/>
              <a:t>persendirian</a:t>
            </a:r>
            <a:r>
              <a:rPr lang="en-US" dirty="0"/>
              <a:t> </a:t>
            </a:r>
            <a:r>
              <a:rPr lang="en-US" dirty="0" err="1"/>
              <a:t>yg</a:t>
            </a:r>
            <a:r>
              <a:rPr lang="en-US" dirty="0"/>
              <a:t> lain</a:t>
            </a:r>
          </a:p>
        </p:txBody>
      </p:sp>
      <p:sp>
        <p:nvSpPr>
          <p:cNvPr id="4" name="Slide Number Placeholder 3"/>
          <p:cNvSpPr>
            <a:spLocks noGrp="1"/>
          </p:cNvSpPr>
          <p:nvPr>
            <p:ph type="sldNum" sz="quarter" idx="5"/>
          </p:nvPr>
        </p:nvSpPr>
        <p:spPr/>
        <p:txBody>
          <a:bodyPr/>
          <a:lstStyle/>
          <a:p>
            <a:fld id="{5441B598-48B1-48A3-86EA-CB12D0FE7070}" type="slidenum">
              <a:rPr lang="en-MY" smtClean="0"/>
              <a:t>5</a:t>
            </a:fld>
            <a:endParaRPr lang="en-MY"/>
          </a:p>
        </p:txBody>
      </p:sp>
    </p:spTree>
    <p:extLst>
      <p:ext uri="{BB962C8B-B14F-4D97-AF65-F5344CB8AC3E}">
        <p14:creationId xmlns:p14="http://schemas.microsoft.com/office/powerpoint/2010/main" val="2490273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C8C89-CCA6-15C2-98AF-4B2F4B41C5B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DDE3E86-BAA7-BB3B-E5BE-D99DBF7F38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A80D8B8-B772-3239-73BB-CB858F813AF1}"/>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5" name="Footer Placeholder 4">
            <a:extLst>
              <a:ext uri="{FF2B5EF4-FFF2-40B4-BE49-F238E27FC236}">
                <a16:creationId xmlns:a16="http://schemas.microsoft.com/office/drawing/2014/main" id="{D248139E-B5F0-F6A1-CE28-5D87ABE9D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DB1FC-948B-4D33-4110-1E9E9E4F951C}"/>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4231000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A9D0-24DD-8C59-E397-7040FDFF49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9D7E07B-9BE2-1C6C-F3A1-8D5BC62E722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43D979-BEC9-7A2A-1B16-2F07FBB3838E}"/>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5" name="Footer Placeholder 4">
            <a:extLst>
              <a:ext uri="{FF2B5EF4-FFF2-40B4-BE49-F238E27FC236}">
                <a16:creationId xmlns:a16="http://schemas.microsoft.com/office/drawing/2014/main" id="{103A3428-C87A-2C71-4C2C-A78819F32E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4FCA3-770A-9B4D-7E67-C8E8785CBB4E}"/>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86095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6193-9DC3-4288-F591-6F701AD6D01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A9F275B-3C78-2966-70E4-BA6B420DE1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B84FE1D-4F5E-6CF2-38A9-DB5E96620790}"/>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5" name="Footer Placeholder 4">
            <a:extLst>
              <a:ext uri="{FF2B5EF4-FFF2-40B4-BE49-F238E27FC236}">
                <a16:creationId xmlns:a16="http://schemas.microsoft.com/office/drawing/2014/main" id="{E0E480FF-CACF-6C00-336E-A21F2A9104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9D556-27CF-0E11-A276-9E78585D8AA6}"/>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10668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19016-B703-FC0B-52A2-522FE2D727B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CDED00-C945-286B-859A-7B45852629B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AB1D8E8-FB93-DDF6-4CBA-71823948489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5718BD4-0FBB-68A8-DA27-FBF7FCF31F62}"/>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6" name="Footer Placeholder 5">
            <a:extLst>
              <a:ext uri="{FF2B5EF4-FFF2-40B4-BE49-F238E27FC236}">
                <a16:creationId xmlns:a16="http://schemas.microsoft.com/office/drawing/2014/main" id="{64A2C8CE-7793-B5E8-ECEB-F73EBCDA20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405AEB-9BEB-204A-6BAD-3065D4ABBBC5}"/>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1749365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FBBDE-753F-228F-4BD5-2C31FEF811C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A6A30A7-018C-C57B-D027-39F7A5C243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F466AB-610C-A167-5D6C-3326B7F9A3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2432BE3-6946-D84D-10DA-F9E98A47D9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FCB6D9C-3951-20F2-22EB-4EDD0C10B7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223F669-E334-7F49-8D9F-CD9AD444EC27}"/>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8" name="Footer Placeholder 7">
            <a:extLst>
              <a:ext uri="{FF2B5EF4-FFF2-40B4-BE49-F238E27FC236}">
                <a16:creationId xmlns:a16="http://schemas.microsoft.com/office/drawing/2014/main" id="{6FF07ED9-2327-6F60-12F1-DA947A4E40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B9DEAB-C707-1AF1-06C6-5633D2F19098}"/>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4014491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F553E-C562-49EF-2C50-AB2C41C8088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2C9C987-27C3-ECDC-1B68-D8B859AD76D0}"/>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4" name="Footer Placeholder 3">
            <a:extLst>
              <a:ext uri="{FF2B5EF4-FFF2-40B4-BE49-F238E27FC236}">
                <a16:creationId xmlns:a16="http://schemas.microsoft.com/office/drawing/2014/main" id="{420EC23F-D281-84AA-4E0B-CF8F662023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FBCBA2-1D7A-6913-44AB-379A0E84B78F}"/>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298620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6B4396-160F-D1AC-07BC-BC91F60E6327}"/>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3" name="Footer Placeholder 2">
            <a:extLst>
              <a:ext uri="{FF2B5EF4-FFF2-40B4-BE49-F238E27FC236}">
                <a16:creationId xmlns:a16="http://schemas.microsoft.com/office/drawing/2014/main" id="{D92099FF-B835-112E-081A-98FF3FA7C3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45598A-978D-3EAC-3900-F673E408D560}"/>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862714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52A5-E88F-9131-55DE-FC4C320B56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C09CE98-5EEE-CD4C-3909-ECF8161E06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B3ED39F-3F56-120B-6D7D-7F652541CF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3BE0BE-BCD9-D5A2-0AB0-F3661C83FEA0}"/>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6" name="Footer Placeholder 5">
            <a:extLst>
              <a:ext uri="{FF2B5EF4-FFF2-40B4-BE49-F238E27FC236}">
                <a16:creationId xmlns:a16="http://schemas.microsoft.com/office/drawing/2014/main" id="{CE1302EC-58AA-D481-9534-6D0FF38601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C4405A-F823-0A15-25C5-CEDBFBC22780}"/>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372570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137A-5DF9-89C3-5FEF-5FCAAE91969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AC6D4E5-9A37-1EA9-2570-9AC016A2EB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AB1CFF-E26D-00AF-0FFB-2DBCEAD425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A5E518C-FAA6-EF2E-D96B-CBB8F8A6B2A8}"/>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6" name="Footer Placeholder 5">
            <a:extLst>
              <a:ext uri="{FF2B5EF4-FFF2-40B4-BE49-F238E27FC236}">
                <a16:creationId xmlns:a16="http://schemas.microsoft.com/office/drawing/2014/main" id="{BCC9E7B7-8F5D-C6FF-EE38-442E3868FB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AFD93E-7DDC-F92E-F308-CC271BE1E469}"/>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3033719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4BF2-B29A-4AC5-E89B-3BE5E79E2A6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8E31CFC-3619-99E0-47EE-C4E5D8639E1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D905742-5E47-E1A7-62EF-AD7583E329BA}"/>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5" name="Footer Placeholder 4">
            <a:extLst>
              <a:ext uri="{FF2B5EF4-FFF2-40B4-BE49-F238E27FC236}">
                <a16:creationId xmlns:a16="http://schemas.microsoft.com/office/drawing/2014/main" id="{1F0AF730-2704-D708-3616-B6793CC45A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207789-AE8F-B7E9-06B3-5D2B4233A853}"/>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233505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D4BB22-7F0A-C073-5800-5E7C95DD036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F3B48F-0303-0874-CF70-9E29ECDCC4D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E64A5FC-2FCA-8C1C-E57D-0545934D8C7F}"/>
              </a:ext>
            </a:extLst>
          </p:cNvPr>
          <p:cNvSpPr>
            <a:spLocks noGrp="1"/>
          </p:cNvSpPr>
          <p:nvPr>
            <p:ph type="dt" sz="half" idx="10"/>
          </p:nvPr>
        </p:nvSpPr>
        <p:spPr/>
        <p:txBody>
          <a:bodyPr/>
          <a:lstStyle/>
          <a:p>
            <a:fld id="{AE3F6EC2-9462-8844-A33A-00F5B605B507}" type="datetimeFigureOut">
              <a:rPr lang="en-US" smtClean="0"/>
              <a:t>7/30/26</a:t>
            </a:fld>
            <a:endParaRPr lang="en-US"/>
          </a:p>
        </p:txBody>
      </p:sp>
      <p:sp>
        <p:nvSpPr>
          <p:cNvPr id="5" name="Footer Placeholder 4">
            <a:extLst>
              <a:ext uri="{FF2B5EF4-FFF2-40B4-BE49-F238E27FC236}">
                <a16:creationId xmlns:a16="http://schemas.microsoft.com/office/drawing/2014/main" id="{CA3768A9-6D16-16F7-1D5B-96D746059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E1675-D40B-C9B9-57AC-E53E7D9C5ADD}"/>
              </a:ext>
            </a:extLst>
          </p:cNvPr>
          <p:cNvSpPr>
            <a:spLocks noGrp="1"/>
          </p:cNvSpPr>
          <p:nvPr>
            <p:ph type="sldNum" sz="quarter" idx="12"/>
          </p:nvPr>
        </p:nvSpPr>
        <p:spPr/>
        <p:txBody>
          <a:bodyPr/>
          <a:lstStyle/>
          <a:p>
            <a:fld id="{017EC02C-D878-C545-B735-97ABF032C8CE}" type="slidenum">
              <a:rPr lang="en-US" smtClean="0"/>
              <a:t>‹#›</a:t>
            </a:fld>
            <a:endParaRPr lang="en-US"/>
          </a:p>
        </p:txBody>
      </p:sp>
    </p:spTree>
    <p:extLst>
      <p:ext uri="{BB962C8B-B14F-4D97-AF65-F5344CB8AC3E}">
        <p14:creationId xmlns:p14="http://schemas.microsoft.com/office/powerpoint/2010/main" val="3813550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595CC0-9CB1-D115-DA05-2F44C70E6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7F7FB38-B971-9F2C-1C17-636BC726DD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1D9A92A-E16C-5A5C-B10C-2A6639747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3F6EC2-9462-8844-A33A-00F5B605B507}" type="datetimeFigureOut">
              <a:rPr lang="en-US" smtClean="0"/>
              <a:t>7/30/26</a:t>
            </a:fld>
            <a:endParaRPr lang="en-US"/>
          </a:p>
        </p:txBody>
      </p:sp>
      <p:sp>
        <p:nvSpPr>
          <p:cNvPr id="5" name="Footer Placeholder 4">
            <a:extLst>
              <a:ext uri="{FF2B5EF4-FFF2-40B4-BE49-F238E27FC236}">
                <a16:creationId xmlns:a16="http://schemas.microsoft.com/office/drawing/2014/main" id="{322E2020-210F-2B4F-BAEF-9AEAEC92B3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DA3CB5-1B80-6282-723C-B2B5A4D258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7EC02C-D878-C545-B735-97ABF032C8CE}" type="slidenum">
              <a:rPr lang="en-US" smtClean="0"/>
              <a:t>‹#›</a:t>
            </a:fld>
            <a:endParaRPr lang="en-US"/>
          </a:p>
        </p:txBody>
      </p:sp>
    </p:spTree>
    <p:extLst>
      <p:ext uri="{BB962C8B-B14F-4D97-AF65-F5344CB8AC3E}">
        <p14:creationId xmlns:p14="http://schemas.microsoft.com/office/powerpoint/2010/main" val="2717409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ln>
                <a:solidFill>
                  <a:schemeClr val="tx1"/>
                </a:solidFill>
              </a:ln>
              <a:solidFill>
                <a:schemeClr val="tx1"/>
              </a:solidFill>
            </a:endParaRPr>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ln>
                <a:solidFill>
                  <a:schemeClr val="tx1"/>
                </a:solidFill>
              </a:ln>
              <a:solidFill>
                <a:schemeClr val="tx1"/>
              </a:solidFill>
            </a:endParaRPr>
          </a:p>
        </p:txBody>
      </p:sp>
      <p:sp>
        <p:nvSpPr>
          <p:cNvPr id="3" name="Slide Number Placeholder 2">
            <a:extLst>
              <a:ext uri="{FF2B5EF4-FFF2-40B4-BE49-F238E27FC236}">
                <a16:creationId xmlns:a16="http://schemas.microsoft.com/office/drawing/2014/main" id="{04A6B0D3-2F3D-4651-9D93-5A1DD4546871}"/>
              </a:ext>
            </a:extLst>
          </p:cNvPr>
          <p:cNvSpPr>
            <a:spLocks noGrp="1"/>
          </p:cNvSpPr>
          <p:nvPr>
            <p:ph type="sldNum" sz="quarter" idx="12"/>
          </p:nvPr>
        </p:nvSpPr>
        <p:spPr/>
        <p:txBody>
          <a:bodyPr/>
          <a:lstStyle/>
          <a:p>
            <a:fld id="{3623F268-C767-4D38-829F-0337D5B3500C}" type="slidenum">
              <a:rPr lang="en-MY" smtClean="0">
                <a:ln>
                  <a:solidFill>
                    <a:schemeClr val="tx1"/>
                  </a:solidFill>
                </a:ln>
                <a:solidFill>
                  <a:schemeClr val="tx1"/>
                </a:solidFill>
              </a:rPr>
              <a:pPr/>
              <a:t>1</a:t>
            </a:fld>
            <a:endParaRPr lang="en-MY">
              <a:ln>
                <a:solidFill>
                  <a:schemeClr val="tx1"/>
                </a:solidFill>
              </a:ln>
              <a:solidFill>
                <a:schemeClr val="tx1"/>
              </a:solidFill>
            </a:endParaRPr>
          </a:p>
        </p:txBody>
      </p:sp>
      <p:sp>
        <p:nvSpPr>
          <p:cNvPr id="20" name="TextBox 19">
            <a:extLst>
              <a:ext uri="{FF2B5EF4-FFF2-40B4-BE49-F238E27FC236}">
                <a16:creationId xmlns:a16="http://schemas.microsoft.com/office/drawing/2014/main" id="{AC66F6E8-4A93-41A9-8CB6-E07F160FF43B}"/>
              </a:ext>
            </a:extLst>
          </p:cNvPr>
          <p:cNvSpPr txBox="1"/>
          <p:nvPr/>
        </p:nvSpPr>
        <p:spPr>
          <a:xfrm>
            <a:off x="11120283" y="26923"/>
            <a:ext cx="867696" cy="369332"/>
          </a:xfrm>
          <a:prstGeom prst="rect">
            <a:avLst/>
          </a:prstGeom>
          <a:solidFill>
            <a:schemeClr val="bg1"/>
          </a:solidFill>
        </p:spPr>
        <p:txBody>
          <a:bodyPr wrap="square" rtlCol="0">
            <a:spAutoFit/>
          </a:bodyPr>
          <a:lstStyle/>
          <a:p>
            <a:endParaRPr lang="en-MY" dirty="0">
              <a:ln>
                <a:solidFill>
                  <a:schemeClr val="tx1"/>
                </a:solidFill>
              </a:ln>
            </a:endParaRPr>
          </a:p>
        </p:txBody>
      </p:sp>
      <p:sp>
        <p:nvSpPr>
          <p:cNvPr id="15" name="TextBox 14">
            <a:extLst>
              <a:ext uri="{FF2B5EF4-FFF2-40B4-BE49-F238E27FC236}">
                <a16:creationId xmlns:a16="http://schemas.microsoft.com/office/drawing/2014/main" id="{893F096C-331A-4F9F-8B24-96770B970D2A}"/>
              </a:ext>
            </a:extLst>
          </p:cNvPr>
          <p:cNvSpPr txBox="1"/>
          <p:nvPr/>
        </p:nvSpPr>
        <p:spPr>
          <a:xfrm>
            <a:off x="1712682" y="95889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DR AHMAD SYUKRI JAMALUDIN</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02ED7609-2C24-4374-A2DB-71784950E6F2}"/>
              </a:ext>
            </a:extLst>
          </p:cNvPr>
          <p:cNvSpPr txBox="1"/>
          <p:nvPr/>
        </p:nvSpPr>
        <p:spPr>
          <a:xfrm>
            <a:off x="1692613" y="1845187"/>
            <a:ext cx="7669099" cy="4093428"/>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Former Regional Chief Executive Officer,  Central 2 (KPJ Damansara Specialist Hospital, KPJ Damansara Specialist Hospital 2, KPJ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Rawang</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Specialist Hospital, KPJ Selangor Specialist Hospital, KPJ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Klang</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Specialist Hospital</a:t>
            </a:r>
          </a:p>
          <a:p>
            <a:pPr marL="285750" indent="-285750" algn="just">
              <a:buFont typeface="Wingdings" panose="05000000000000000000" pitchFamily="2" charset="2"/>
              <a:buChar char="§"/>
            </a:pPr>
            <a:endPar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Former Chief Executive Officer, KPJ Bandar Maharani Specialist Hospital</a:t>
            </a:r>
          </a:p>
          <a:p>
            <a:pPr marL="285750" indent="-285750" algn="just">
              <a:buFont typeface="Wingdings" panose="05000000000000000000" pitchFamily="2" charset="2"/>
              <a:buChar char="§"/>
            </a:pPr>
            <a:endPar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Currently the Chief Executive Officer of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Azzahrah</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Group</a:t>
            </a:r>
          </a:p>
          <a:p>
            <a:pPr marL="285750" indent="-285750" algn="just">
              <a:buFont typeface="Wingdings" panose="05000000000000000000" pitchFamily="2" charset="2"/>
              <a:buChar char="§"/>
            </a:pPr>
            <a:endPar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Experience in overseeing and managing the construction and subsequent operation of KPJ Damansara Specialist Hospital 2</a:t>
            </a:r>
          </a:p>
          <a:p>
            <a:pPr marL="285750" indent="-285750" algn="just">
              <a:buFont typeface="Wingdings" panose="05000000000000000000" pitchFamily="2" charset="2"/>
              <a:buChar char="§"/>
            </a:pPr>
            <a:endPar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CD9321C0-223E-4365-B8C4-3C0200C65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2793" y="2303009"/>
            <a:ext cx="1769634" cy="1817852"/>
          </a:xfrm>
          <a:prstGeom prst="rect">
            <a:avLst/>
          </a:prstGeom>
        </p:spPr>
      </p:pic>
    </p:spTree>
    <p:extLst>
      <p:ext uri="{BB962C8B-B14F-4D97-AF65-F5344CB8AC3E}">
        <p14:creationId xmlns:p14="http://schemas.microsoft.com/office/powerpoint/2010/main" val="3186424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65EF24FE-1907-4A51-926A-177C810F5FF4}"/>
              </a:ext>
            </a:extLst>
          </p:cNvPr>
          <p:cNvSpPr txBox="1"/>
          <p:nvPr/>
        </p:nvSpPr>
        <p:spPr>
          <a:xfrm>
            <a:off x="1098087" y="67408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DR AHMAD SYUKRI JAMALUDIN</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B946F3E-DE05-4C9B-97E5-252ABCCACDAE}"/>
              </a:ext>
            </a:extLst>
          </p:cNvPr>
          <p:cNvSpPr txBox="1"/>
          <p:nvPr/>
        </p:nvSpPr>
        <p:spPr>
          <a:xfrm>
            <a:off x="1109270" y="1394085"/>
            <a:ext cx="10433154" cy="3970318"/>
          </a:xfrm>
          <a:prstGeom prst="rect">
            <a:avLst/>
          </a:prstGeom>
          <a:noFill/>
        </p:spPr>
        <p:txBody>
          <a:bodyPr wrap="square" rtlCol="0">
            <a:spAutoFit/>
          </a:bodyPr>
          <a:lstStyle/>
          <a:p>
            <a:pPr algn="just"/>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Dr.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Ahmad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Syukri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bin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Jamaludin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is an accomplished medical professional and healthcare executive with extensive experience in clinical practice, hospital operations, and strategic leadership across both public and private healthcare sectors.</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He began his secondary education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Sekolah</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Alam</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Shah, Kuala Lumpur, and completed the International Baccalaureate programme at MARA College Banting, Selangor. He subsequently pursued a dual degree in Medical Science and Medicine (MB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BCh</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BAO) at University College Cork, Republic of Ireland, and later earned a Master of Business Administration (MBA) from UNITAR International University.</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pPr algn="just"/>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Dr.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Syukri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commenced his medical career in the Republic of Ireland before returning to Malaysia, where he served at Pusat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Perubatan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Universiti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Kebangsaan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Malaysia (PPUKM). He went on to serve in government hospitals, including Port Dickson Hospital, and held a role at the Planning Department of the Ministry of Health Malaysia.</a:t>
            </a:r>
          </a:p>
        </p:txBody>
      </p:sp>
    </p:spTree>
    <p:extLst>
      <p:ext uri="{BB962C8B-B14F-4D97-AF65-F5344CB8AC3E}">
        <p14:creationId xmlns:p14="http://schemas.microsoft.com/office/powerpoint/2010/main" val="2309854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65EF24FE-1907-4A51-926A-177C810F5FF4}"/>
              </a:ext>
            </a:extLst>
          </p:cNvPr>
          <p:cNvSpPr txBox="1"/>
          <p:nvPr/>
        </p:nvSpPr>
        <p:spPr>
          <a:xfrm>
            <a:off x="1098087" y="67408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DR AHMAD SYUKRI JAMALUDIN (cont’d)</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B946F3E-DE05-4C9B-97E5-252ABCCACDAE}"/>
              </a:ext>
            </a:extLst>
          </p:cNvPr>
          <p:cNvSpPr txBox="1"/>
          <p:nvPr/>
        </p:nvSpPr>
        <p:spPr>
          <a:xfrm>
            <a:off x="1109270" y="1394085"/>
            <a:ext cx="10433154" cy="3139321"/>
          </a:xfrm>
          <a:prstGeom prst="rect">
            <a:avLst/>
          </a:prstGeom>
          <a:noFill/>
        </p:spPr>
        <p:txBody>
          <a:bodyPr wrap="square" rtlCol="0">
            <a:spAutoFit/>
          </a:bodyPr>
          <a:lstStyle/>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In the private sector,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Dr.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Syukri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has held several key leadership positions. He served as Assistant General Manager of Hospital Islam Az-</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Zahrah</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and later as Chief Medical Officer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Megaklinik</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Zahran. He then joined KPJ Healthcare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Berhad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where he progressed through various senior roles, including Clinical and Operations Manager of KPJ Seremban Specialist Hospital, and subsequently Chief Executive Officer of KPJ Maharani Specialist Hospital.</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His last appointment within KPJ Healthcare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Berhad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was as Group Chief Executive Officer of KPJ Damansara Specialist Hospital (DSH) and KPJ Damansara Specialist Hospital 2 (DSH2). He also concurrently served as the Covering Regional CEO for Central Region 2, overseeing KPJ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Klang</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Specialist Hospital, KPJ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Rawang</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Specialist Hospital, and KPJ Selangor Specialist Hospital.</a:t>
            </a:r>
          </a:p>
          <a:p>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25265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65EF24FE-1907-4A51-926A-177C810F5FF4}"/>
              </a:ext>
            </a:extLst>
          </p:cNvPr>
          <p:cNvSpPr txBox="1"/>
          <p:nvPr/>
        </p:nvSpPr>
        <p:spPr>
          <a:xfrm>
            <a:off x="1098087" y="67408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DR AHMAD SYUKRI JAMALUDIN (cont’d)</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B946F3E-DE05-4C9B-97E5-252ABCCACDAE}"/>
              </a:ext>
            </a:extLst>
          </p:cNvPr>
          <p:cNvSpPr txBox="1"/>
          <p:nvPr/>
        </p:nvSpPr>
        <p:spPr>
          <a:xfrm>
            <a:off x="1109270" y="1394085"/>
            <a:ext cx="10433154" cy="2308324"/>
          </a:xfrm>
          <a:prstGeom prst="rect">
            <a:avLst/>
          </a:prstGeom>
          <a:noFill/>
        </p:spPr>
        <p:txBody>
          <a:bodyPr wrap="square" rtlCol="0">
            <a:spAutoFit/>
          </a:bodyPr>
          <a:lstStyle/>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Currently,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Dr.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Syukri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serves as the Chief Executive Officer of Hospital Islam Az-</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Zahrah</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where he is leading operational improvements and overseeing the hospital’s strategic expansion initiatives.</a:t>
            </a:r>
          </a:p>
          <a:p>
            <a:pPr algn="just"/>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With a strong foundation in both clinical and non-clinical leadership,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Dr.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Syukri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has played a pivotal role in elevating healthcare standards. Under his leadership, KPJ Damansara Specialist Hospital and KPJ Damansara Specialist Hospital 2 were recognised by Global Health Asia Pacific in 2023 as the Best Women’s Health Hospital in Asia Pacific and Best New Hospital in Asia Pacific, respectively.</a:t>
            </a:r>
          </a:p>
          <a:p>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65260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ln>
                <a:solidFill>
                  <a:schemeClr val="tx1"/>
                </a:solidFill>
              </a:ln>
              <a:solidFill>
                <a:schemeClr val="tx1"/>
              </a:solidFill>
            </a:endParaRPr>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ln>
                <a:solidFill>
                  <a:schemeClr val="tx1"/>
                </a:solidFill>
              </a:ln>
              <a:solidFill>
                <a:schemeClr val="tx1"/>
              </a:solidFill>
            </a:endParaRPr>
          </a:p>
        </p:txBody>
      </p:sp>
      <p:sp>
        <p:nvSpPr>
          <p:cNvPr id="3" name="Slide Number Placeholder 2">
            <a:extLst>
              <a:ext uri="{FF2B5EF4-FFF2-40B4-BE49-F238E27FC236}">
                <a16:creationId xmlns:a16="http://schemas.microsoft.com/office/drawing/2014/main" id="{04A6B0D3-2F3D-4651-9D93-5A1DD4546871}"/>
              </a:ext>
            </a:extLst>
          </p:cNvPr>
          <p:cNvSpPr>
            <a:spLocks noGrp="1"/>
          </p:cNvSpPr>
          <p:nvPr>
            <p:ph type="sldNum" sz="quarter" idx="12"/>
          </p:nvPr>
        </p:nvSpPr>
        <p:spPr/>
        <p:txBody>
          <a:bodyPr/>
          <a:lstStyle/>
          <a:p>
            <a:fld id="{3623F268-C767-4D38-829F-0337D5B3500C}" type="slidenum">
              <a:rPr lang="en-MY" smtClean="0">
                <a:ln>
                  <a:solidFill>
                    <a:schemeClr val="tx1"/>
                  </a:solidFill>
                </a:ln>
                <a:solidFill>
                  <a:schemeClr val="tx1"/>
                </a:solidFill>
              </a:rPr>
              <a:pPr/>
              <a:t>5</a:t>
            </a:fld>
            <a:endParaRPr lang="en-MY">
              <a:ln>
                <a:solidFill>
                  <a:schemeClr val="tx1"/>
                </a:solidFill>
              </a:ln>
              <a:solidFill>
                <a:schemeClr val="tx1"/>
              </a:solidFill>
            </a:endParaRPr>
          </a:p>
        </p:txBody>
      </p:sp>
      <p:sp>
        <p:nvSpPr>
          <p:cNvPr id="20" name="TextBox 19">
            <a:extLst>
              <a:ext uri="{FF2B5EF4-FFF2-40B4-BE49-F238E27FC236}">
                <a16:creationId xmlns:a16="http://schemas.microsoft.com/office/drawing/2014/main" id="{AC66F6E8-4A93-41A9-8CB6-E07F160FF43B}"/>
              </a:ext>
            </a:extLst>
          </p:cNvPr>
          <p:cNvSpPr txBox="1"/>
          <p:nvPr/>
        </p:nvSpPr>
        <p:spPr>
          <a:xfrm>
            <a:off x="11120283" y="26923"/>
            <a:ext cx="867696" cy="369332"/>
          </a:xfrm>
          <a:prstGeom prst="rect">
            <a:avLst/>
          </a:prstGeom>
          <a:solidFill>
            <a:schemeClr val="bg1"/>
          </a:solidFill>
        </p:spPr>
        <p:txBody>
          <a:bodyPr wrap="square" rtlCol="0">
            <a:spAutoFit/>
          </a:bodyPr>
          <a:lstStyle/>
          <a:p>
            <a:endParaRPr lang="en-MY" dirty="0">
              <a:ln>
                <a:solidFill>
                  <a:schemeClr val="tx1"/>
                </a:solidFill>
              </a:ln>
            </a:endParaRPr>
          </a:p>
        </p:txBody>
      </p:sp>
      <p:sp>
        <p:nvSpPr>
          <p:cNvPr id="11" name="TextBox 10">
            <a:extLst>
              <a:ext uri="{FF2B5EF4-FFF2-40B4-BE49-F238E27FC236}">
                <a16:creationId xmlns:a16="http://schemas.microsoft.com/office/drawing/2014/main" id="{3BF99AE3-8035-493C-8499-84A4A9A3838D}"/>
              </a:ext>
            </a:extLst>
          </p:cNvPr>
          <p:cNvSpPr txBox="1"/>
          <p:nvPr/>
        </p:nvSpPr>
        <p:spPr>
          <a:xfrm>
            <a:off x="1360194" y="1676572"/>
            <a:ext cx="8053629" cy="2554545"/>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Former Chief Executive Officer,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Amanah</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Raya-</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Kenedix</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REIT Management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Sdn</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Bhd</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Manager of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Amanah</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Raya-</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Kenedix</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REIT</a:t>
            </a:r>
          </a:p>
          <a:p>
            <a:pPr algn="just"/>
            <a:endPar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Former Chief Financial Officer/Executive Director,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Asset Management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Sdn</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Bhd</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Manager of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REIT</a:t>
            </a:r>
          </a:p>
          <a:p>
            <a:pPr algn="just"/>
            <a:endPar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marL="285750" indent="-285750" algn="just">
              <a:buFont typeface="Wingdings" panose="05000000000000000000" pitchFamily="2" charset="2"/>
              <a:buChar char="§"/>
            </a:pP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Currently consulting for </a:t>
            </a:r>
            <a:r>
              <a:rPr lang="en-US" sz="2000" dirty="0" err="1">
                <a:ln>
                  <a:solidFill>
                    <a:schemeClr val="tx1"/>
                  </a:solidFill>
                </a:ln>
                <a:latin typeface="Tahoma" panose="020B0604030504040204" pitchFamily="34" charset="0"/>
                <a:ea typeface="Tahoma" panose="020B0604030504040204" pitchFamily="34" charset="0"/>
                <a:cs typeface="Tahoma" panose="020B0604030504040204" pitchFamily="34" charset="0"/>
              </a:rPr>
              <a:t>Azzahrah</a:t>
            </a:r>
            <a:r>
              <a:rPr lang="en-US" sz="2000" dirty="0">
                <a:ln>
                  <a:solidFill>
                    <a:schemeClr val="tx1"/>
                  </a:solidFill>
                </a:ln>
                <a:latin typeface="Tahoma" panose="020B0604030504040204" pitchFamily="34" charset="0"/>
                <a:ea typeface="Tahoma" panose="020B0604030504040204" pitchFamily="34" charset="0"/>
                <a:cs typeface="Tahoma" panose="020B0604030504040204" pitchFamily="34" charset="0"/>
              </a:rPr>
              <a:t> Group on strategic matters which includes the expansion of its hospital business</a:t>
            </a:r>
            <a:endParaRPr lang="en-MY" sz="20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12" name="TextBox 11">
            <a:extLst>
              <a:ext uri="{FF2B5EF4-FFF2-40B4-BE49-F238E27FC236}">
                <a16:creationId xmlns:a16="http://schemas.microsoft.com/office/drawing/2014/main" id="{215CDD75-A077-4F65-8322-7A83A5CB7FC3}"/>
              </a:ext>
            </a:extLst>
          </p:cNvPr>
          <p:cNvSpPr txBox="1"/>
          <p:nvPr/>
        </p:nvSpPr>
        <p:spPr>
          <a:xfrm>
            <a:off x="1527722" y="872538"/>
            <a:ext cx="7741673"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ZALILA BINTI MOHD TOON</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pic>
        <p:nvPicPr>
          <p:cNvPr id="13" name="Picture 12">
            <a:extLst>
              <a:ext uri="{FF2B5EF4-FFF2-40B4-BE49-F238E27FC236}">
                <a16:creationId xmlns:a16="http://schemas.microsoft.com/office/drawing/2014/main" id="{A3AF55C4-FC18-4203-94CB-13279503C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5969" y="1736532"/>
            <a:ext cx="1781447" cy="2074517"/>
          </a:xfrm>
          <a:prstGeom prst="rect">
            <a:avLst/>
          </a:prstGeom>
          <a:ln w="28575">
            <a:solidFill>
              <a:schemeClr val="tx1"/>
            </a:solidFill>
          </a:ln>
          <a:effectLst>
            <a:softEdge rad="63500"/>
          </a:effectLst>
        </p:spPr>
      </p:pic>
    </p:spTree>
    <p:extLst>
      <p:ext uri="{BB962C8B-B14F-4D97-AF65-F5344CB8AC3E}">
        <p14:creationId xmlns:p14="http://schemas.microsoft.com/office/powerpoint/2010/main" val="1661060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65EF24FE-1907-4A51-926A-177C810F5FF4}"/>
              </a:ext>
            </a:extLst>
          </p:cNvPr>
          <p:cNvSpPr txBox="1"/>
          <p:nvPr/>
        </p:nvSpPr>
        <p:spPr>
          <a:xfrm>
            <a:off x="1098087" y="67408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ZALILA BINTI MOHD TOON</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B946F3E-DE05-4C9B-97E5-252ABCCACDAE}"/>
              </a:ext>
            </a:extLst>
          </p:cNvPr>
          <p:cNvSpPr txBox="1"/>
          <p:nvPr/>
        </p:nvSpPr>
        <p:spPr>
          <a:xfrm>
            <a:off x="1109270" y="1394085"/>
            <a:ext cx="10433154" cy="3970318"/>
          </a:xfrm>
          <a:prstGeom prst="rect">
            <a:avLst/>
          </a:prstGeom>
          <a:noFill/>
        </p:spPr>
        <p:txBody>
          <a:bodyPr wrap="square" rtlCol="0">
            <a:spAutoFit/>
          </a:bodyPr>
          <a:lstStyle/>
          <a:p>
            <a:pPr algn="just"/>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Zalila</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was the Executive Director cum Chief Financial Officer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Asset Management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Sdn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Bhd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HektarAM</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manager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for 12 years until her resignation in January 2018.  She was instrumental for the structuring and listing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on Bursa Malaysia’s Main Board in 2006; and grew the assets under management from RM500 million to RM1.2 billion via assets acquisition.  </a:t>
            </a:r>
          </a:p>
          <a:p>
            <a:pPr algn="just"/>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She was responsible for the financial matters, strategy, investor relations, legal and corporate affairs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and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AM.  She was appointed as Chairman of the Due Diligence Working Group for the various corporate exercises undertaken by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such as the IPO and Rights Issue Exercise.  She was the Designated Licensed Director under the Capital Market Services Representative’s License granted to REIT Managers.  She also oversaw the Property Manager that manages all 6 shopping malls under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and was involved with strata title matters and issues with the Joint Management Body of one of the Malls.</a:t>
            </a:r>
          </a:p>
          <a:p>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7743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65EF24FE-1907-4A51-926A-177C810F5FF4}"/>
              </a:ext>
            </a:extLst>
          </p:cNvPr>
          <p:cNvSpPr txBox="1"/>
          <p:nvPr/>
        </p:nvSpPr>
        <p:spPr>
          <a:xfrm>
            <a:off x="1098087" y="67408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ZALILA BINTI MOHD TOON (cont’d)</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B946F3E-DE05-4C9B-97E5-252ABCCACDAE}"/>
              </a:ext>
            </a:extLst>
          </p:cNvPr>
          <p:cNvSpPr txBox="1"/>
          <p:nvPr/>
        </p:nvSpPr>
        <p:spPr>
          <a:xfrm>
            <a:off x="1109270" y="1394085"/>
            <a:ext cx="10433154" cy="3416320"/>
          </a:xfrm>
          <a:prstGeom prst="rect">
            <a:avLst/>
          </a:prstGeom>
          <a:noFill/>
        </p:spPr>
        <p:txBody>
          <a:bodyPr wrap="square" rtlCol="0">
            <a:spAutoFit/>
          </a:bodyPr>
          <a:lstStyle/>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Thereafter, she became the Chief Executive Officer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AmanahRaya-Kenedix</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Manager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Sdn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Bhd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(“AKRM”) manager for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AmanahRaya</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REIT, which has a diversified portfolio of 15 properties,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ie</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office buildings, education, retail, logistics and hospitality.  Total Assets under management was over RM1 billion.  She oversaw both the management of the REIT, AKRM and the Property Managers at the respective properties.</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From 2022 to present, she is the Corporate Strategy Adviser for Kumpulan Syarikat Az-Zahrah.  She was involved in the corporatization and expansion program of the group and in the acquisition of a piece of land for hospital expansion.  Together with the Group’s Team, several presentations were made to prospective investors.</a:t>
            </a:r>
          </a:p>
          <a:p>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01257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A091E8-24A3-4FCA-92E2-52CCE635E1E6}"/>
              </a:ext>
            </a:extLst>
          </p:cNvPr>
          <p:cNvSpPr/>
          <p:nvPr/>
        </p:nvSpPr>
        <p:spPr>
          <a:xfrm>
            <a:off x="4036291" y="1"/>
            <a:ext cx="4119418" cy="738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015934F-34B7-4A2F-816E-AE9DD8DF9013}"/>
              </a:ext>
            </a:extLst>
          </p:cNvPr>
          <p:cNvSpPr/>
          <p:nvPr/>
        </p:nvSpPr>
        <p:spPr>
          <a:xfrm>
            <a:off x="0" y="6657111"/>
            <a:ext cx="12192000" cy="207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65EF24FE-1907-4A51-926A-177C810F5FF4}"/>
              </a:ext>
            </a:extLst>
          </p:cNvPr>
          <p:cNvSpPr txBox="1"/>
          <p:nvPr/>
        </p:nvSpPr>
        <p:spPr>
          <a:xfrm>
            <a:off x="1098087" y="674085"/>
            <a:ext cx="8270767" cy="461665"/>
          </a:xfrm>
          <a:prstGeom prst="rect">
            <a:avLst/>
          </a:prstGeom>
          <a:noFill/>
        </p:spPr>
        <p:txBody>
          <a:bodyPr wrap="square" rtlCol="0">
            <a:spAutoFit/>
          </a:bodyPr>
          <a:lstStyle/>
          <a:p>
            <a:r>
              <a:rPr lang="en-US" sz="2400" dirty="0">
                <a:ln>
                  <a:solidFill>
                    <a:schemeClr val="tx1"/>
                  </a:solidFill>
                </a:ln>
                <a:latin typeface="Tahoma" panose="020B0604030504040204" pitchFamily="34" charset="0"/>
                <a:ea typeface="Tahoma" panose="020B0604030504040204" pitchFamily="34" charset="0"/>
                <a:cs typeface="Tahoma" panose="020B0604030504040204" pitchFamily="34" charset="0"/>
              </a:rPr>
              <a:t>ZALILA BINTI MOHD TOON (cont’d)</a:t>
            </a:r>
            <a:endParaRPr lang="en-MY" sz="2400"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DB946F3E-DE05-4C9B-97E5-252ABCCACDAE}"/>
              </a:ext>
            </a:extLst>
          </p:cNvPr>
          <p:cNvSpPr txBox="1"/>
          <p:nvPr/>
        </p:nvSpPr>
        <p:spPr>
          <a:xfrm>
            <a:off x="1109270" y="1394085"/>
            <a:ext cx="10433154" cy="2862322"/>
          </a:xfrm>
          <a:prstGeom prst="rect">
            <a:avLst/>
          </a:prstGeom>
          <a:noFill/>
        </p:spPr>
        <p:txBody>
          <a:bodyPr wrap="square" rtlCol="0">
            <a:spAutoFit/>
          </a:bodyPr>
          <a:lstStyle/>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Prior to joining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Hektar</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in 2004, she was with the UEM Group for 23 years, out of which 20 years was with Cement Industries of Malaysia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Berhad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where she steadily rose from an Accountant to General Manager Finance and Corporate Affairs.  Her primary achievements included spearheading various corporate exercises and acquisition of a cement plant, including a due diligence exercise of a cement plant in India.  Subsequently, she was also involved in the reverse take-over exercise of Park May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Berhad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before leaving for a brief stint in UEM Environment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Sdn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Bhd</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 holding company of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Kualiti</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Alam</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r>
              <a:rPr lang="en-MY" dirty="0" err="1">
                <a:ln>
                  <a:solidFill>
                    <a:schemeClr val="tx1"/>
                  </a:solidFill>
                </a:ln>
                <a:latin typeface="Tahoma" panose="020B0604030504040204" pitchFamily="34" charset="0"/>
                <a:ea typeface="Tahoma" panose="020B0604030504040204" pitchFamily="34" charset="0"/>
                <a:cs typeface="Tahoma" panose="020B0604030504040204" pitchFamily="34" charset="0"/>
              </a:rPr>
              <a:t>Sdn</a:t>
            </a:r>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Bhd.  </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 </a:t>
            </a:r>
          </a:p>
          <a:p>
            <a:pPr algn="just"/>
            <a:r>
              <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rPr>
              <a:t>Zalila holds a Master of Business Administration (Finance) from the University of Nottingham.  </a:t>
            </a:r>
          </a:p>
          <a:p>
            <a:endParaRPr lang="en-MY" dirty="0">
              <a:ln>
                <a:solidFill>
                  <a:schemeClr val="tx1"/>
                </a:solidFill>
              </a:ln>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73246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1045</Words>
  <Application>Microsoft Macintosh PowerPoint</Application>
  <PresentationFormat>Widescreen</PresentationFormat>
  <Paragraphs>48</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Zalila Mohd Toon</dc:creator>
  <cp:lastModifiedBy>Zalila Mohd Toon</cp:lastModifiedBy>
  <cp:revision>1</cp:revision>
  <dcterms:created xsi:type="dcterms:W3CDTF">2026-07-30T15:05:24Z</dcterms:created>
  <dcterms:modified xsi:type="dcterms:W3CDTF">2026-07-30T15:16:45Z</dcterms:modified>
</cp:coreProperties>
</file>